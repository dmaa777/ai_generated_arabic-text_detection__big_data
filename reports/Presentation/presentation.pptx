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82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600FA-C64D-46FD-906D-40925EF6298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3024D-68F0-408D-BF50-FBD974FF48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02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600FA-C64D-46FD-906D-40925EF6298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3024D-68F0-408D-BF50-FBD974FF48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196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600FA-C64D-46FD-906D-40925EF6298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3024D-68F0-408D-BF50-FBD974FF48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8927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600FA-C64D-46FD-906D-40925EF6298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3024D-68F0-408D-BF50-FBD974FF48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1183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600FA-C64D-46FD-906D-40925EF6298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3024D-68F0-408D-BF50-FBD974FF48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4921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600FA-C64D-46FD-906D-40925EF6298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3024D-68F0-408D-BF50-FBD974FF48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014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600FA-C64D-46FD-906D-40925EF6298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3024D-68F0-408D-BF50-FBD974FF48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1240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600FA-C64D-46FD-906D-40925EF6298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3024D-68F0-408D-BF50-FBD974FF48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69939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600FA-C64D-46FD-906D-40925EF6298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3024D-68F0-408D-BF50-FBD974FF48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38632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600FA-C64D-46FD-906D-40925EF6298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3024D-68F0-408D-BF50-FBD974FF48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1457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600FA-C64D-46FD-906D-40925EF6298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3024D-68F0-408D-BF50-FBD974FF480A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616414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600FA-C64D-46FD-906D-40925EF6298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3024D-68F0-408D-BF50-FBD974FF48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3335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600FA-C64D-46FD-906D-40925EF6298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3024D-68F0-408D-BF50-FBD974FF480A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429541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600FA-C64D-46FD-906D-40925EF6298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3024D-68F0-408D-BF50-FBD974FF48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657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600FA-C64D-46FD-906D-40925EF6298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3024D-68F0-408D-BF50-FBD974FF48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30613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600FA-C64D-46FD-906D-40925EF6298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3024D-68F0-408D-BF50-FBD974FF48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5172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7600FA-C64D-46FD-906D-40925EF6298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5FD3024D-68F0-408D-BF50-FBD974FF48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948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C4647-4323-81D3-73DF-6B5FEAA365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9030" y="1160865"/>
            <a:ext cx="8631977" cy="1646302"/>
          </a:xfrm>
        </p:spPr>
        <p:txBody>
          <a:bodyPr/>
          <a:lstStyle/>
          <a:p>
            <a:pPr algn="l"/>
            <a:r>
              <a:rPr lang="en-US" sz="4000" dirty="0"/>
              <a:t>Detection of AI-Generated Arabic Text</a:t>
            </a:r>
            <a:r>
              <a:rPr lang="ar-EG" sz="4000" dirty="0"/>
              <a:t> </a:t>
            </a:r>
            <a:r>
              <a:rPr lang="en-US" sz="4000" dirty="0"/>
              <a:t>using Pyspark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D169DC-DAA6-D3F0-F60D-E30E897C817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000" b="1" dirty="0" err="1"/>
              <a:t>Moutzz</a:t>
            </a:r>
            <a:r>
              <a:rPr lang="en-US" sz="4000" b="1" dirty="0"/>
              <a:t> </a:t>
            </a:r>
            <a:r>
              <a:rPr lang="en-US" sz="4000" b="1" dirty="0" err="1"/>
              <a:t>Abokhashabh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41572798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56B61-9147-0089-50AF-BF43DE283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Introduction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EA6BB8-F594-0F36-01C0-66422A0816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b="1" dirty="0"/>
              <a:t>project  objectives:</a:t>
            </a:r>
          </a:p>
          <a:p>
            <a:pPr lvl="0"/>
            <a:r>
              <a:rPr lang="en-US" dirty="0"/>
              <a:t>Design and implement a distributed data processing pipeline for Arabic text analysis using Apache Spark</a:t>
            </a:r>
          </a:p>
          <a:p>
            <a:pPr lvl="0"/>
            <a:r>
              <a:rPr lang="en-US" dirty="0"/>
              <a:t>To develop comprehensive Arabic text preprocessing functions, including diacritic removal, character normalization, stopword filtering, and stemming, implemented as distributed Spark UDFs for parallel execution</a:t>
            </a:r>
          </a:p>
          <a:p>
            <a:pPr lvl="0"/>
            <a:r>
              <a:rPr lang="en-US" dirty="0"/>
              <a:t>To engineer hybrid features that combine TF-IDF vectors, </a:t>
            </a:r>
          </a:p>
          <a:p>
            <a:pPr lvl="0"/>
            <a:r>
              <a:rPr lang="en-US" dirty="0"/>
              <a:t>To train and evaluate multiple classification models (Logistic Regression, Random Forest, Linear SVM, and Naive Bayes) on a balanced dataset of human and AI-generated Arabic abstracts</a:t>
            </a:r>
          </a:p>
          <a:p>
            <a:pPr lvl="0"/>
            <a:r>
              <a:rPr lang="en-US" dirty="0"/>
              <a:t>To implement a streaming module using Spark Structured Streaming that demonstrates real-time inference capability on simulated file-based input streams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05376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C7984-BAE9-9988-E1E8-20E5ECA0D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1733C9-227A-2539-E06D-8F3FDDD8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Dataset Description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16A743-8F29-22E5-5C3B-071175BECC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Source:</a:t>
            </a:r>
            <a:r>
              <a:rPr lang="en-US" dirty="0"/>
              <a:t> The dataset is KFUPM-JRCAI/</a:t>
            </a:r>
            <a:r>
              <a:rPr lang="en-US" dirty="0" err="1"/>
              <a:t>arabic</a:t>
            </a:r>
            <a:r>
              <a:rPr lang="en-US" dirty="0"/>
              <a:t>-generated-abstracts loaded from Hugging Face.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Structure:</a:t>
            </a:r>
            <a:r>
              <a:rPr lang="en-US" dirty="0"/>
              <a:t> The dataset contains three splits:</a:t>
            </a:r>
          </a:p>
          <a:p>
            <a:pPr lvl="0"/>
            <a:r>
              <a:rPr lang="en-US" dirty="0" err="1"/>
              <a:t>by_polishing</a:t>
            </a:r>
            <a:r>
              <a:rPr lang="en-US" dirty="0"/>
              <a:t>: 2,851 rows</a:t>
            </a:r>
          </a:p>
          <a:p>
            <a:pPr lvl="0"/>
            <a:r>
              <a:rPr lang="en-US" dirty="0" err="1"/>
              <a:t>from_title</a:t>
            </a:r>
            <a:r>
              <a:rPr lang="en-US" dirty="0"/>
              <a:t>: 2,963 rows</a:t>
            </a:r>
          </a:p>
          <a:p>
            <a:pPr lvl="0"/>
            <a:r>
              <a:rPr lang="en-US" dirty="0" err="1"/>
              <a:t>from_title_and_content</a:t>
            </a:r>
            <a:r>
              <a:rPr lang="en-US" dirty="0"/>
              <a:t>: 2,574 rows</a:t>
            </a:r>
          </a:p>
        </p:txBody>
      </p:sp>
    </p:spTree>
    <p:extLst>
      <p:ext uri="{BB962C8B-B14F-4D97-AF65-F5344CB8AC3E}">
        <p14:creationId xmlns:p14="http://schemas.microsoft.com/office/powerpoint/2010/main" val="2174898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34E73-45A3-3783-D1FA-3899A3622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D6612-810E-93B7-5E58-182C3E128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Dataset Description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A8F108-BCDF-BA26-A948-0768E0CFBE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C8FB0B3-C2E3-5EB3-2F8A-A61D9F2FD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7068503"/>
              </p:ext>
            </p:extLst>
          </p:nvPr>
        </p:nvGraphicFramePr>
        <p:xfrm>
          <a:off x="677334" y="2160588"/>
          <a:ext cx="8596668" cy="388077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88542">
                  <a:extLst>
                    <a:ext uri="{9D8B030D-6E8A-4147-A177-3AD203B41FA5}">
                      <a16:colId xmlns:a16="http://schemas.microsoft.com/office/drawing/2014/main" val="3021765240"/>
                    </a:ext>
                  </a:extLst>
                </a:gridCol>
                <a:gridCol w="2950148">
                  <a:extLst>
                    <a:ext uri="{9D8B030D-6E8A-4147-A177-3AD203B41FA5}">
                      <a16:colId xmlns:a16="http://schemas.microsoft.com/office/drawing/2014/main" val="1881753670"/>
                    </a:ext>
                  </a:extLst>
                </a:gridCol>
                <a:gridCol w="2950148">
                  <a:extLst>
                    <a:ext uri="{9D8B030D-6E8A-4147-A177-3AD203B41FA5}">
                      <a16:colId xmlns:a16="http://schemas.microsoft.com/office/drawing/2014/main" val="2847517674"/>
                    </a:ext>
                  </a:extLst>
                </a:gridCol>
                <a:gridCol w="1107830">
                  <a:extLst>
                    <a:ext uri="{9D8B030D-6E8A-4147-A177-3AD203B41FA5}">
                      <a16:colId xmlns:a16="http://schemas.microsoft.com/office/drawing/2014/main" val="2067481557"/>
                    </a:ext>
                  </a:extLst>
                </a:gridCol>
              </a:tblGrid>
              <a:tr h="646796">
                <a:tc>
                  <a:txBody>
                    <a:bodyPr/>
                    <a:lstStyle/>
                    <a:p>
                      <a:pPr marL="0" marR="0" algn="l" rtl="0">
                        <a:lnSpc>
                          <a:spcPts val="1875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50">
                          <a:effectLst/>
                        </a:rPr>
                        <a:t>Label</a:t>
                      </a:r>
                      <a:endParaRPr lang="en-US" sz="1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marL="0" marR="0" algn="l" rtl="0">
                        <a:lnSpc>
                          <a:spcPts val="1875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50" dirty="0">
                          <a:effectLst/>
                        </a:rPr>
                        <a:t>Generated By</a:t>
                      </a:r>
                      <a:endParaRPr lang="en-US" sz="1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marL="0" marR="0" algn="l" rtl="0">
                        <a:lnSpc>
                          <a:spcPts val="1875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50">
                          <a:effectLst/>
                        </a:rPr>
                        <a:t>Count</a:t>
                      </a:r>
                      <a:endParaRPr lang="en-US" sz="1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marL="0" marR="0" algn="l" rtl="0">
                        <a:lnSpc>
                          <a:spcPts val="1875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50">
                          <a:effectLst/>
                        </a:rPr>
                        <a:t>Percentage</a:t>
                      </a:r>
                      <a:endParaRPr lang="en-US" sz="1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3312626498"/>
                  </a:ext>
                </a:extLst>
              </a:tr>
              <a:tr h="646796">
                <a:tc>
                  <a:txBody>
                    <a:bodyPr/>
                    <a:lstStyle/>
                    <a:p>
                      <a:pPr marL="0" marR="0" algn="l" rtl="0">
                        <a:lnSpc>
                          <a:spcPts val="1875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50">
                          <a:effectLst/>
                        </a:rPr>
                        <a:t>0 (AI)</a:t>
                      </a:r>
                      <a:endParaRPr lang="en-US" sz="1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marL="0" marR="0" algn="l" rtl="0">
                        <a:lnSpc>
                          <a:spcPts val="1875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50">
                          <a:effectLst/>
                        </a:rPr>
                        <a:t>allam</a:t>
                      </a:r>
                      <a:endParaRPr lang="en-US" sz="1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marL="0" marR="0" algn="l" rtl="0">
                        <a:lnSpc>
                          <a:spcPts val="1875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50">
                          <a:effectLst/>
                        </a:rPr>
                        <a:t>8,388</a:t>
                      </a:r>
                      <a:endParaRPr lang="en-US" sz="1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marL="0" marR="0" algn="l" rtl="0">
                        <a:lnSpc>
                          <a:spcPts val="1875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50">
                          <a:effectLst/>
                        </a:rPr>
                        <a:t>20.0%</a:t>
                      </a:r>
                      <a:endParaRPr lang="en-US" sz="1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0" marT="95250" marB="95250" anchor="ctr"/>
                </a:tc>
                <a:extLst>
                  <a:ext uri="{0D108BD9-81ED-4DB2-BD59-A6C34878D82A}">
                    <a16:rowId xmlns:a16="http://schemas.microsoft.com/office/drawing/2014/main" val="2938339345"/>
                  </a:ext>
                </a:extLst>
              </a:tr>
              <a:tr h="646796">
                <a:tc>
                  <a:txBody>
                    <a:bodyPr/>
                    <a:lstStyle/>
                    <a:p>
                      <a:pPr marL="0" marR="0" algn="l" rtl="0">
                        <a:lnSpc>
                          <a:spcPts val="1875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50">
                          <a:effectLst/>
                        </a:rPr>
                        <a:t>0 (AI)</a:t>
                      </a:r>
                      <a:endParaRPr lang="en-US" sz="1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marL="0" marR="0" algn="l" rtl="0">
                        <a:lnSpc>
                          <a:spcPts val="1875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50">
                          <a:effectLst/>
                        </a:rPr>
                        <a:t>jais</a:t>
                      </a:r>
                      <a:endParaRPr lang="en-US" sz="1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marL="0" marR="0" algn="l" rtl="0">
                        <a:lnSpc>
                          <a:spcPts val="1875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50">
                          <a:effectLst/>
                        </a:rPr>
                        <a:t>8,388</a:t>
                      </a:r>
                      <a:endParaRPr lang="en-US" sz="1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marL="0" marR="0" algn="l" rtl="0">
                        <a:lnSpc>
                          <a:spcPts val="1875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50">
                          <a:effectLst/>
                        </a:rPr>
                        <a:t>20.0%</a:t>
                      </a:r>
                      <a:endParaRPr lang="en-US" sz="1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0" marT="95250" marB="95250" anchor="ctr"/>
                </a:tc>
                <a:extLst>
                  <a:ext uri="{0D108BD9-81ED-4DB2-BD59-A6C34878D82A}">
                    <a16:rowId xmlns:a16="http://schemas.microsoft.com/office/drawing/2014/main" val="3584452185"/>
                  </a:ext>
                </a:extLst>
              </a:tr>
              <a:tr h="646796">
                <a:tc>
                  <a:txBody>
                    <a:bodyPr/>
                    <a:lstStyle/>
                    <a:p>
                      <a:pPr marL="0" marR="0" algn="l" rtl="0">
                        <a:lnSpc>
                          <a:spcPts val="1875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50">
                          <a:effectLst/>
                        </a:rPr>
                        <a:t>0 (AI)</a:t>
                      </a:r>
                      <a:endParaRPr lang="en-US" sz="1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marL="0" marR="0" algn="l" rtl="0">
                        <a:lnSpc>
                          <a:spcPts val="1875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50">
                          <a:effectLst/>
                        </a:rPr>
                        <a:t>llama</a:t>
                      </a:r>
                      <a:endParaRPr lang="en-US" sz="1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marL="0" marR="0" algn="l" rtl="0">
                        <a:lnSpc>
                          <a:spcPts val="1875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50">
                          <a:effectLst/>
                        </a:rPr>
                        <a:t>8,388</a:t>
                      </a:r>
                      <a:endParaRPr lang="en-US" sz="1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marL="0" marR="0" algn="l" rtl="0">
                        <a:lnSpc>
                          <a:spcPts val="1875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50">
                          <a:effectLst/>
                        </a:rPr>
                        <a:t>20.0%</a:t>
                      </a:r>
                      <a:endParaRPr lang="en-US" sz="1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0" marT="95250" marB="95250" anchor="ctr"/>
                </a:tc>
                <a:extLst>
                  <a:ext uri="{0D108BD9-81ED-4DB2-BD59-A6C34878D82A}">
                    <a16:rowId xmlns:a16="http://schemas.microsoft.com/office/drawing/2014/main" val="1082589986"/>
                  </a:ext>
                </a:extLst>
              </a:tr>
              <a:tr h="646796">
                <a:tc>
                  <a:txBody>
                    <a:bodyPr/>
                    <a:lstStyle/>
                    <a:p>
                      <a:pPr marL="0" marR="0" algn="l" rtl="0">
                        <a:lnSpc>
                          <a:spcPts val="1875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50">
                          <a:effectLst/>
                        </a:rPr>
                        <a:t>0 (AI)</a:t>
                      </a:r>
                      <a:endParaRPr lang="en-US" sz="1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marL="0" marR="0" algn="l" rtl="0">
                        <a:lnSpc>
                          <a:spcPts val="1875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50">
                          <a:effectLst/>
                        </a:rPr>
                        <a:t>openai</a:t>
                      </a:r>
                      <a:endParaRPr lang="en-US" sz="1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marL="0" marR="0" algn="l" rtl="0">
                        <a:lnSpc>
                          <a:spcPts val="1875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50">
                          <a:effectLst/>
                        </a:rPr>
                        <a:t>8,388</a:t>
                      </a:r>
                      <a:endParaRPr lang="en-US" sz="1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marL="0" marR="0" algn="l" rtl="0">
                        <a:lnSpc>
                          <a:spcPts val="1875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50" dirty="0">
                          <a:effectLst/>
                        </a:rPr>
                        <a:t>20.0%</a:t>
                      </a:r>
                      <a:endParaRPr lang="en-US" sz="1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0" marT="95250" marB="95250" anchor="ctr"/>
                </a:tc>
                <a:extLst>
                  <a:ext uri="{0D108BD9-81ED-4DB2-BD59-A6C34878D82A}">
                    <a16:rowId xmlns:a16="http://schemas.microsoft.com/office/drawing/2014/main" val="2096106193"/>
                  </a:ext>
                </a:extLst>
              </a:tr>
              <a:tr h="646796">
                <a:tc>
                  <a:txBody>
                    <a:bodyPr/>
                    <a:lstStyle/>
                    <a:p>
                      <a:pPr marL="0" marR="0" algn="l" rtl="0">
                        <a:lnSpc>
                          <a:spcPts val="1875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50">
                          <a:effectLst/>
                        </a:rPr>
                        <a:t>1 (Human)</a:t>
                      </a:r>
                      <a:endParaRPr lang="en-US" sz="1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152400" marT="95250" marB="95250" anchor="ctr"/>
                </a:tc>
                <a:tc>
                  <a:txBody>
                    <a:bodyPr/>
                    <a:lstStyle/>
                    <a:p>
                      <a:pPr marL="0" marR="0" algn="l" rtl="0">
                        <a:lnSpc>
                          <a:spcPts val="1875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50">
                          <a:effectLst/>
                        </a:rPr>
                        <a:t>human</a:t>
                      </a:r>
                      <a:endParaRPr lang="en-US" sz="1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marL="0" marR="0" algn="l" rtl="0">
                        <a:lnSpc>
                          <a:spcPts val="1875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50">
                          <a:effectLst/>
                        </a:rPr>
                        <a:t>8,388</a:t>
                      </a:r>
                      <a:endParaRPr lang="en-US" sz="1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marL="0" marR="0" algn="l" rtl="0">
                        <a:lnSpc>
                          <a:spcPts val="1875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50" dirty="0">
                          <a:effectLst/>
                        </a:rPr>
                        <a:t>20.0%</a:t>
                      </a:r>
                      <a:endParaRPr lang="en-US" sz="1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0" marT="95250" marB="95250" anchor="ctr"/>
                </a:tc>
                <a:extLst>
                  <a:ext uri="{0D108BD9-81ED-4DB2-BD59-A6C34878D82A}">
                    <a16:rowId xmlns:a16="http://schemas.microsoft.com/office/drawing/2014/main" val="23601918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299540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8B81B-6111-CF58-3D1B-4848EA18B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74B0A-1570-21F7-F948-3E948B84C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Feature Engineering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A7F09C30-D731-C7C8-DF13-4F718C3C78C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89837454"/>
              </p:ext>
            </p:extLst>
          </p:nvPr>
        </p:nvGraphicFramePr>
        <p:xfrm>
          <a:off x="81116" y="2640141"/>
          <a:ext cx="10515600" cy="1905000"/>
        </p:xfrm>
        <a:graphic>
          <a:graphicData uri="http://schemas.openxmlformats.org/drawingml/2006/table">
            <a:tbl>
              <a:tblPr/>
              <a:tblGrid>
                <a:gridCol w="1324897">
                  <a:extLst>
                    <a:ext uri="{9D8B030D-6E8A-4147-A177-3AD203B41FA5}">
                      <a16:colId xmlns:a16="http://schemas.microsoft.com/office/drawing/2014/main" val="4056731957"/>
                    </a:ext>
                  </a:extLst>
                </a:gridCol>
                <a:gridCol w="2595716">
                  <a:extLst>
                    <a:ext uri="{9D8B030D-6E8A-4147-A177-3AD203B41FA5}">
                      <a16:colId xmlns:a16="http://schemas.microsoft.com/office/drawing/2014/main" val="2756531267"/>
                    </a:ext>
                  </a:extLst>
                </a:gridCol>
                <a:gridCol w="3215148">
                  <a:extLst>
                    <a:ext uri="{9D8B030D-6E8A-4147-A177-3AD203B41FA5}">
                      <a16:colId xmlns:a16="http://schemas.microsoft.com/office/drawing/2014/main" val="1911306013"/>
                    </a:ext>
                  </a:extLst>
                </a:gridCol>
                <a:gridCol w="3379839">
                  <a:extLst>
                    <a:ext uri="{9D8B030D-6E8A-4147-A177-3AD203B41FA5}">
                      <a16:colId xmlns:a16="http://schemas.microsoft.com/office/drawing/2014/main" val="192835285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b="1" dirty="0">
                          <a:effectLst/>
                          <a:latin typeface="quote-cjk-patch"/>
                        </a:rPr>
                        <a:t>Feature</a:t>
                      </a:r>
                    </a:p>
                  </a:txBody>
                  <a:tcPr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b="1">
                          <a:effectLst/>
                          <a:latin typeface="quote-cjk-patch"/>
                        </a:rPr>
                        <a:t>Code</a:t>
                      </a: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b="1">
                          <a:effectLst/>
                          <a:latin typeface="quote-cjk-patch"/>
                        </a:rPr>
                        <a:t>Description</a:t>
                      </a: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b="1" dirty="0">
                          <a:effectLst/>
                          <a:latin typeface="quote-cjk-patch"/>
                        </a:rPr>
                        <a:t>Computation</a:t>
                      </a: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78395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1">
                          <a:effectLst/>
                          <a:latin typeface="quote-cjk-patch"/>
                        </a:rPr>
                        <a:t>F023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 dirty="0" err="1">
                          <a:effectLst/>
                          <a:latin typeface="Menlo"/>
                        </a:rPr>
                        <a:t>avg_syllables_per_word</a:t>
                      </a:r>
                      <a:endParaRPr lang="en-US" b="0" dirty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Mean syllable count per word</a:t>
                      </a: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quote-cjk-patch"/>
                        </a:rPr>
                        <a:t>Cluster-based vowel detection (Arabic long/short vowels)</a:t>
                      </a:r>
                    </a:p>
                  </a:txBody>
                  <a:tcPr marL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3553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1">
                          <a:effectLst/>
                          <a:latin typeface="quote-cjk-patch"/>
                        </a:rPr>
                        <a:t>F046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b="0" dirty="0" err="1">
                          <a:effectLst/>
                          <a:latin typeface="Menlo"/>
                        </a:rPr>
                        <a:t>num_nouns</a:t>
                      </a:r>
                      <a:endParaRPr lang="en-US" b="0" dirty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Noun frequency per abstract</a:t>
                      </a: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quote-cjk-patch"/>
                        </a:rPr>
                        <a:t>camel-tools POS tagging (fallback: heuristic with </a:t>
                      </a:r>
                      <a:r>
                        <a:rPr lang="ar-EG" b="0" dirty="0">
                          <a:effectLst/>
                          <a:latin typeface="quote-cjk-patch"/>
                        </a:rPr>
                        <a:t>ال </a:t>
                      </a:r>
                      <a:r>
                        <a:rPr lang="en-US" b="0" dirty="0">
                          <a:effectLst/>
                          <a:latin typeface="quote-cjk-patch"/>
                        </a:rPr>
                        <a:t>prefix + common suffixes)</a:t>
                      </a:r>
                    </a:p>
                  </a:txBody>
                  <a:tcPr marL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2750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88442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EC224-36D5-148D-5D4E-5AEB2744A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8DDDE-4861-36C0-B996-F3DC64649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Preprocessing Functions 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1476B7-D8D6-17DD-FAAC-7B30BCD69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Step 1: Remove diacritical marks (</a:t>
            </a:r>
            <a:r>
              <a:rPr lang="en-US" dirty="0" err="1"/>
              <a:t>tashkeel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Step 2: Normalize character variants</a:t>
            </a:r>
          </a:p>
          <a:p>
            <a:pPr marL="0" indent="0">
              <a:buNone/>
            </a:pPr>
            <a:r>
              <a:rPr lang="en-US" dirty="0"/>
              <a:t>Step 3: Filter Arabic </a:t>
            </a:r>
            <a:r>
              <a:rPr lang="en-US" dirty="0" err="1"/>
              <a:t>stopwords</a:t>
            </a:r>
            <a:r>
              <a:rPr lang="en-US" dirty="0"/>
              <a:t>  by using NLTK</a:t>
            </a:r>
          </a:p>
        </p:txBody>
      </p:sp>
    </p:spTree>
    <p:extLst>
      <p:ext uri="{BB962C8B-B14F-4D97-AF65-F5344CB8AC3E}">
        <p14:creationId xmlns:p14="http://schemas.microsoft.com/office/powerpoint/2010/main" val="15529141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77EAC-5A53-23F4-B480-4AB89CA54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D46B3-7081-BED6-A171-491641BE6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Exploratory Data Analysis 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93697C-A8C7-42EC-3599-70DE137AA7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Class Distribution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6551C3-F331-B14D-9A2E-E4BC9E96D7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9257" y="1930400"/>
            <a:ext cx="3771707" cy="396916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53822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8F868-FC3C-17F8-16D6-D90948D08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3ADC30-B2F0-5381-3AC5-D0B55CEF9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Exploratory Data Analysis 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BDC749-7124-ED65-A47E-5D0CB8CFA3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Token Density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7B77D0C-E91B-018C-EFDA-12B33C4199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1600" y="2834598"/>
            <a:ext cx="6250581" cy="341125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094596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DF2C8-38D1-0FA9-541F-767EF7BFF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5D863-8BE4-2F80-94AC-B0F111A20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Exploratory Data Analysis 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BB1E56-DE90-C0B9-033F-1897D26A76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Top Unigrams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921FD0-6FC8-358C-C9FE-C3B335A921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3969" y="2294862"/>
            <a:ext cx="5274310" cy="37465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202506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D008A-F658-B3B8-A253-AB992D571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DAC74-FC16-11AB-7CB3-BDF47F868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Model Training Configuration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69A39B-EBFB-B10A-919D-6BC37A4233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402D1E4-3532-3B26-4762-EBAC6475DA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7198216"/>
              </p:ext>
            </p:extLst>
          </p:nvPr>
        </p:nvGraphicFramePr>
        <p:xfrm>
          <a:off x="677334" y="2160587"/>
          <a:ext cx="6569772" cy="2625420"/>
        </p:xfrm>
        <a:graphic>
          <a:graphicData uri="http://schemas.openxmlformats.org/drawingml/2006/table">
            <a:tbl>
              <a:tblPr/>
              <a:tblGrid>
                <a:gridCol w="2189924">
                  <a:extLst>
                    <a:ext uri="{9D8B030D-6E8A-4147-A177-3AD203B41FA5}">
                      <a16:colId xmlns:a16="http://schemas.microsoft.com/office/drawing/2014/main" val="1133467041"/>
                    </a:ext>
                  </a:extLst>
                </a:gridCol>
                <a:gridCol w="2189924">
                  <a:extLst>
                    <a:ext uri="{9D8B030D-6E8A-4147-A177-3AD203B41FA5}">
                      <a16:colId xmlns:a16="http://schemas.microsoft.com/office/drawing/2014/main" val="1103340746"/>
                    </a:ext>
                  </a:extLst>
                </a:gridCol>
                <a:gridCol w="2189924">
                  <a:extLst>
                    <a:ext uri="{9D8B030D-6E8A-4147-A177-3AD203B41FA5}">
                      <a16:colId xmlns:a16="http://schemas.microsoft.com/office/drawing/2014/main" val="136993331"/>
                    </a:ext>
                  </a:extLst>
                </a:gridCol>
              </a:tblGrid>
              <a:tr h="656355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b="1" dirty="0">
                          <a:effectLst/>
                          <a:latin typeface="quote-cjk-patch"/>
                        </a:rPr>
                        <a:t>Split</a:t>
                      </a: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b="1">
                          <a:effectLst/>
                          <a:latin typeface="quote-cjk-patch"/>
                        </a:rPr>
                        <a:t>Percentage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b="1" dirty="0">
                          <a:effectLst/>
                          <a:latin typeface="quote-cjk-patch"/>
                        </a:rPr>
                        <a:t>Row Count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7255159"/>
                  </a:ext>
                </a:extLst>
              </a:tr>
              <a:tr h="65635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1" dirty="0">
                          <a:effectLst/>
                          <a:latin typeface="quote-cjk-patch"/>
                        </a:rPr>
                        <a:t>Training</a:t>
                      </a:r>
                      <a:endParaRPr lang="en-US" b="0" dirty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70%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29,345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3644384"/>
                  </a:ext>
                </a:extLst>
              </a:tr>
              <a:tr h="65635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1">
                          <a:effectLst/>
                          <a:latin typeface="quote-cjk-patch"/>
                        </a:rPr>
                        <a:t>Validation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quote-cjk-patch"/>
                        </a:rPr>
                        <a:t>15%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6,430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5374516"/>
                  </a:ext>
                </a:extLst>
              </a:tr>
              <a:tr h="65635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1">
                          <a:effectLst/>
                          <a:latin typeface="quote-cjk-patch"/>
                        </a:rPr>
                        <a:t>Test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15%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quote-cjk-patch"/>
                        </a:rPr>
                        <a:t>6,161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73384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12251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754E2-32DD-381C-C941-1D833F6CA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Results </a:t>
            </a:r>
            <a:br>
              <a:rPr lang="en-US" b="1" dirty="0"/>
            </a:b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FF839272-F5B3-11E0-C8DC-AEC35E525D0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55539708"/>
              </p:ext>
            </p:extLst>
          </p:nvPr>
        </p:nvGraphicFramePr>
        <p:xfrm>
          <a:off x="677334" y="2825973"/>
          <a:ext cx="7830486" cy="2689608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2217357">
                  <a:extLst>
                    <a:ext uri="{9D8B030D-6E8A-4147-A177-3AD203B41FA5}">
                      <a16:colId xmlns:a16="http://schemas.microsoft.com/office/drawing/2014/main" val="177558323"/>
                    </a:ext>
                  </a:extLst>
                </a:gridCol>
                <a:gridCol w="1871043">
                  <a:extLst>
                    <a:ext uri="{9D8B030D-6E8A-4147-A177-3AD203B41FA5}">
                      <a16:colId xmlns:a16="http://schemas.microsoft.com/office/drawing/2014/main" val="614963395"/>
                    </a:ext>
                  </a:extLst>
                </a:gridCol>
                <a:gridCol w="1871043">
                  <a:extLst>
                    <a:ext uri="{9D8B030D-6E8A-4147-A177-3AD203B41FA5}">
                      <a16:colId xmlns:a16="http://schemas.microsoft.com/office/drawing/2014/main" val="4043895445"/>
                    </a:ext>
                  </a:extLst>
                </a:gridCol>
                <a:gridCol w="1871043">
                  <a:extLst>
                    <a:ext uri="{9D8B030D-6E8A-4147-A177-3AD203B41FA5}">
                      <a16:colId xmlns:a16="http://schemas.microsoft.com/office/drawing/2014/main" val="994960253"/>
                    </a:ext>
                  </a:extLst>
                </a:gridCol>
              </a:tblGrid>
              <a:tr h="479183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1800" b="0" dirty="0">
                          <a:effectLst/>
                        </a:rPr>
                        <a:t>Model</a:t>
                      </a:r>
                      <a:endParaRPr lang="en-US" sz="1800" b="0" dirty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1800" b="0" dirty="0">
                          <a:effectLst/>
                        </a:rPr>
                        <a:t>Accuracy</a:t>
                      </a:r>
                      <a:endParaRPr lang="en-US" sz="1800" b="0" dirty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1800" b="0">
                          <a:effectLst/>
                        </a:rPr>
                        <a:t>F1-Score</a:t>
                      </a:r>
                      <a:endParaRPr lang="en-US" sz="18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1800" b="0" dirty="0">
                          <a:effectLst/>
                        </a:rPr>
                        <a:t>AUC-ROC</a:t>
                      </a:r>
                      <a:endParaRPr lang="en-US" sz="1800" b="0" dirty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867749"/>
                  </a:ext>
                </a:extLst>
              </a:tr>
              <a:tr h="772876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800" b="0" dirty="0">
                          <a:effectLst/>
                        </a:rPr>
                        <a:t>Logistic Regression</a:t>
                      </a:r>
                      <a:endParaRPr lang="en-US" sz="1800" b="0" dirty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800" b="0">
                          <a:effectLst/>
                        </a:rPr>
                        <a:t>0.9802</a:t>
                      </a:r>
                      <a:endParaRPr lang="en-US" sz="18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800" b="0" dirty="0">
                          <a:effectLst/>
                        </a:rPr>
                        <a:t>0.9804</a:t>
                      </a:r>
                      <a:endParaRPr lang="en-US" sz="1800" b="0" dirty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800" b="0">
                          <a:effectLst/>
                        </a:rPr>
                        <a:t>0.9955</a:t>
                      </a:r>
                      <a:endParaRPr lang="en-US" sz="18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extLst>
                  <a:ext uri="{0D108BD9-81ED-4DB2-BD59-A6C34878D82A}">
                    <a16:rowId xmlns:a16="http://schemas.microsoft.com/office/drawing/2014/main" val="4183075483"/>
                  </a:ext>
                </a:extLst>
              </a:tr>
              <a:tr h="479183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800" b="0" dirty="0">
                          <a:effectLst/>
                        </a:rPr>
                        <a:t>Linear SVM</a:t>
                      </a:r>
                      <a:endParaRPr lang="en-US" sz="1800" b="0" dirty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800" b="0">
                          <a:effectLst/>
                        </a:rPr>
                        <a:t>0.9750</a:t>
                      </a:r>
                      <a:endParaRPr lang="en-US" sz="18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800" b="0">
                          <a:effectLst/>
                        </a:rPr>
                        <a:t>0.9751</a:t>
                      </a:r>
                      <a:endParaRPr lang="en-US" sz="18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800" b="0" dirty="0">
                          <a:effectLst/>
                        </a:rPr>
                        <a:t>0.9946</a:t>
                      </a:r>
                      <a:endParaRPr lang="en-US" sz="1800" b="0" dirty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extLst>
                  <a:ext uri="{0D108BD9-81ED-4DB2-BD59-A6C34878D82A}">
                    <a16:rowId xmlns:a16="http://schemas.microsoft.com/office/drawing/2014/main" val="1849490391"/>
                  </a:ext>
                </a:extLst>
              </a:tr>
              <a:tr h="479183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800" b="0">
                          <a:effectLst/>
                        </a:rPr>
                        <a:t>Naive Bayes</a:t>
                      </a:r>
                      <a:endParaRPr lang="en-US" sz="18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800" b="0">
                          <a:effectLst/>
                        </a:rPr>
                        <a:t>0.9087</a:t>
                      </a:r>
                      <a:endParaRPr lang="en-US" sz="18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800" b="0">
                          <a:effectLst/>
                        </a:rPr>
                        <a:t>0.9137</a:t>
                      </a:r>
                      <a:endParaRPr lang="en-US" sz="18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800" b="0">
                          <a:effectLst/>
                        </a:rPr>
                        <a:t>0.7275</a:t>
                      </a:r>
                      <a:endParaRPr lang="en-US" sz="18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extLst>
                  <a:ext uri="{0D108BD9-81ED-4DB2-BD59-A6C34878D82A}">
                    <a16:rowId xmlns:a16="http://schemas.microsoft.com/office/drawing/2014/main" val="4226248996"/>
                  </a:ext>
                </a:extLst>
              </a:tr>
              <a:tr h="479183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800" b="0" dirty="0">
                          <a:effectLst/>
                        </a:rPr>
                        <a:t>Random Forest</a:t>
                      </a:r>
                      <a:endParaRPr lang="en-US" sz="1800" b="0" dirty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800" b="0" dirty="0">
                          <a:effectLst/>
                        </a:rPr>
                        <a:t>0.8123</a:t>
                      </a:r>
                      <a:endParaRPr lang="en-US" sz="1800" b="0" dirty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800" b="0" dirty="0">
                          <a:effectLst/>
                        </a:rPr>
                        <a:t>0.7396</a:t>
                      </a:r>
                      <a:endParaRPr lang="en-US" sz="1800" b="0" dirty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800" b="0" dirty="0">
                          <a:effectLst/>
                        </a:rPr>
                        <a:t>0.9872</a:t>
                      </a:r>
                      <a:endParaRPr lang="en-US" sz="1800" b="0" dirty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extLst>
                  <a:ext uri="{0D108BD9-81ED-4DB2-BD59-A6C34878D82A}">
                    <a16:rowId xmlns:a16="http://schemas.microsoft.com/office/drawing/2014/main" val="679826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532161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C251F-2983-99CE-7347-ED1702FA6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47BFE-3AD9-FA59-5E8E-8DFDDCC72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Evaluation</a:t>
            </a:r>
            <a:endParaRPr lang="en-US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2C3C1757-084B-4BD5-CC27-AF3462F26B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39575891"/>
              </p:ext>
            </p:extLst>
          </p:nvPr>
        </p:nvGraphicFramePr>
        <p:xfrm>
          <a:off x="876786" y="3070724"/>
          <a:ext cx="5730240" cy="1574800"/>
        </p:xfrm>
        <a:graphic>
          <a:graphicData uri="http://schemas.openxmlformats.org/drawingml/2006/table">
            <a:tbl>
              <a:tblPr/>
              <a:tblGrid>
                <a:gridCol w="2865120">
                  <a:extLst>
                    <a:ext uri="{9D8B030D-6E8A-4147-A177-3AD203B41FA5}">
                      <a16:colId xmlns:a16="http://schemas.microsoft.com/office/drawing/2014/main" val="806921669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14567433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b="1">
                          <a:effectLst/>
                          <a:latin typeface="quote-cjk-patch"/>
                        </a:rPr>
                        <a:t>Metric</a:t>
                      </a:r>
                    </a:p>
                  </a:txBody>
                  <a:tcPr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b="1" dirty="0">
                          <a:effectLst/>
                          <a:latin typeface="quote-cjk-patch"/>
                        </a:rPr>
                        <a:t>Score</a:t>
                      </a: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6473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quote-cjk-patch"/>
                        </a:rPr>
                        <a:t>Accuracy</a:t>
                      </a:r>
                    </a:p>
                  </a:txBody>
                  <a:tcPr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98.25%</a:t>
                      </a:r>
                    </a:p>
                  </a:txBody>
                  <a:tcPr marL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30923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quote-cjk-patch"/>
                        </a:rPr>
                        <a:t>F1-Score</a:t>
                      </a:r>
                    </a:p>
                  </a:txBody>
                  <a:tcPr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quote-cjk-patch"/>
                        </a:rPr>
                        <a:t>0.9826</a:t>
                      </a:r>
                    </a:p>
                  </a:txBody>
                  <a:tcPr marL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13420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quote-cjk-patch"/>
                        </a:rPr>
                        <a:t>AUC-ROC</a:t>
                      </a:r>
                    </a:p>
                  </a:txBody>
                  <a:tcPr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quote-cjk-patch"/>
                        </a:rPr>
                        <a:t>0.9961</a:t>
                      </a:r>
                    </a:p>
                  </a:txBody>
                  <a:tcPr marL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968937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258F2431-F3FF-8E31-AC30-DC5A2B793400}"/>
              </a:ext>
            </a:extLst>
          </p:cNvPr>
          <p:cNvSpPr txBox="1"/>
          <p:nvPr/>
        </p:nvSpPr>
        <p:spPr>
          <a:xfrm>
            <a:off x="1200149" y="1904705"/>
            <a:ext cx="6097656" cy="1095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Best Model (Logistic Regression) Performance</a:t>
            </a:r>
          </a:p>
          <a:p>
            <a:pPr>
              <a:buNone/>
            </a:pP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86428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F22E5-CD0C-E991-3CC0-E003D483A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2CDC6-8B64-3BF5-F77E-1977BF445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Confusion Matrix</a:t>
            </a:r>
            <a:br>
              <a:rPr lang="en-US" b="1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11B5E6-FE97-C592-8F4A-192213A3B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443" y="1586662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 model shows excellent performance with only 35 false positives (AI misclassified as human) and 73 false negatives (human misclassified as AI). The low error rates indicate strong discriminative capability.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745C5F-456E-0F88-DFD7-A0C0DED76F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04123" y="2657562"/>
            <a:ext cx="4543090" cy="36946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139518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8AFA3-FE22-5602-B0F1-31DE1704D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6CF50-9B59-370A-9E3B-012D00CA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Feature Importance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B7C986-FED8-7573-DB79-8AF90DA5C4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7207"/>
            <a:ext cx="8435802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Token count (</a:t>
            </a:r>
            <a:r>
              <a:rPr lang="en-US" dirty="0" err="1"/>
              <a:t>n_tokens</a:t>
            </a:r>
            <a:r>
              <a:rPr lang="en-US" dirty="0"/>
              <a:t>) showed the highest importance among stylometric features, followed by noun count. Average syllables per word contributed minimally, suggesting that syllable-level features may be less discriminative than lexical density measures for this dataset.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0A0659C-39A7-EBDE-DBE1-580EC2FB49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7118" y="3429001"/>
            <a:ext cx="6058549" cy="29949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277429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DDE93-9F1B-44DC-8DF0-95CD56FDE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E65CE8-3751-E7AE-80C1-D3247AEE8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Streaming Implementation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7EA27E-1818-A942-A6A6-BA8BC8B502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7207"/>
            <a:ext cx="10515600" cy="4351338"/>
          </a:xfrm>
        </p:spPr>
        <p:txBody>
          <a:bodyPr>
            <a:normAutofit/>
          </a:bodyPr>
          <a:lstStyle/>
          <a:p>
            <a:pPr latinLnBrk="1"/>
            <a:r>
              <a:rPr lang="en-US" dirty="0"/>
              <a:t>JSON Files</a:t>
            </a:r>
          </a:p>
          <a:p>
            <a:pPr latinLnBrk="1"/>
            <a:r>
              <a:rPr lang="en-US" dirty="0"/>
              <a:t>Spark Structured Streaming</a:t>
            </a:r>
          </a:p>
          <a:p>
            <a:pPr latinLnBrk="1"/>
            <a:r>
              <a:rPr lang="en-US" dirty="0"/>
              <a:t>Preprocessing UDFs       ↓</a:t>
            </a:r>
          </a:p>
          <a:p>
            <a:pPr latinLnBrk="1"/>
            <a:r>
              <a:rPr lang="en-US" dirty="0"/>
              <a:t>TF-IDF Pipeline Transform</a:t>
            </a:r>
          </a:p>
          <a:p>
            <a:pPr latinLnBrk="1"/>
            <a:r>
              <a:rPr lang="en-US" dirty="0"/>
              <a:t>Model Inference (Logistic Regression)</a:t>
            </a:r>
          </a:p>
          <a:p>
            <a:pPr latinLnBrk="1"/>
            <a:r>
              <a:rPr lang="en-US" dirty="0"/>
              <a:t>Parquet Output</a:t>
            </a:r>
          </a:p>
        </p:txBody>
      </p:sp>
    </p:spTree>
    <p:extLst>
      <p:ext uri="{BB962C8B-B14F-4D97-AF65-F5344CB8AC3E}">
        <p14:creationId xmlns:p14="http://schemas.microsoft.com/office/powerpoint/2010/main" val="35190058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BDC4FE-397A-B07C-01B6-DE9C63829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FD238-EDE0-3D62-21E3-64BF5C4A7D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Streaming Implementation</a:t>
            </a:r>
            <a:endParaRPr lang="en-US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8650060-2BC6-062E-8D9E-3F12CE1C07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2724788"/>
              </p:ext>
            </p:extLst>
          </p:nvPr>
        </p:nvGraphicFramePr>
        <p:xfrm>
          <a:off x="1918915" y="2402750"/>
          <a:ext cx="5730240" cy="2362200"/>
        </p:xfrm>
        <a:graphic>
          <a:graphicData uri="http://schemas.openxmlformats.org/drawingml/2006/table">
            <a:tbl>
              <a:tblPr/>
              <a:tblGrid>
                <a:gridCol w="2865120">
                  <a:extLst>
                    <a:ext uri="{9D8B030D-6E8A-4147-A177-3AD203B41FA5}">
                      <a16:colId xmlns:a16="http://schemas.microsoft.com/office/drawing/2014/main" val="2572720807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16352824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b="1" dirty="0">
                          <a:effectLst/>
                          <a:latin typeface="quote-cjk-patch"/>
                        </a:rPr>
                        <a:t>Metric</a:t>
                      </a:r>
                    </a:p>
                  </a:txBody>
                  <a:tcPr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b="1" dirty="0">
                          <a:effectLst/>
                          <a:latin typeface="quote-cjk-patch"/>
                        </a:rPr>
                        <a:t>Value</a:t>
                      </a: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33570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Total records</a:t>
                      </a:r>
                    </a:p>
                  </a:txBody>
                  <a:tcPr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50</a:t>
                      </a:r>
                    </a:p>
                  </a:txBody>
                  <a:tcPr marL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69323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Batches</a:t>
                      </a:r>
                    </a:p>
                  </a:txBody>
                  <a:tcPr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5</a:t>
                      </a:r>
                    </a:p>
                  </a:txBody>
                  <a:tcPr marL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7921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Processing mode</a:t>
                      </a:r>
                    </a:p>
                  </a:txBody>
                  <a:tcPr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quote-cjk-patch"/>
                        </a:rPr>
                        <a:t>Append, 3-second trigger</a:t>
                      </a:r>
                    </a:p>
                  </a:txBody>
                  <a:tcPr marL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13191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Output format</a:t>
                      </a:r>
                    </a:p>
                  </a:txBody>
                  <a:tcPr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JSON (partitioned)</a:t>
                      </a:r>
                    </a:p>
                  </a:txBody>
                  <a:tcPr marL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08084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quote-cjk-patch"/>
                        </a:rPr>
                        <a:t>Accuracy (simulated)</a:t>
                      </a:r>
                    </a:p>
                  </a:txBody>
                  <a:tcPr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quote-cjk-patch"/>
                        </a:rPr>
                        <a:t>95.0%</a:t>
                      </a:r>
                    </a:p>
                  </a:txBody>
                  <a:tcPr marL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1164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25984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2F6DF2-325B-3D8F-AEDA-D29ADE494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FD593-5253-40CB-1A48-6B6ECFDDC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Scalability Benchmark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8C72340-FE45-AA9D-1491-1ABE51E50A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8154276"/>
              </p:ext>
            </p:extLst>
          </p:nvPr>
        </p:nvGraphicFramePr>
        <p:xfrm>
          <a:off x="596375" y="1712140"/>
          <a:ext cx="5730240" cy="2209800"/>
        </p:xfrm>
        <a:graphic>
          <a:graphicData uri="http://schemas.openxmlformats.org/drawingml/2006/table">
            <a:tbl>
              <a:tblPr/>
              <a:tblGrid>
                <a:gridCol w="1910080">
                  <a:extLst>
                    <a:ext uri="{9D8B030D-6E8A-4147-A177-3AD203B41FA5}">
                      <a16:colId xmlns:a16="http://schemas.microsoft.com/office/drawing/2014/main" val="1869379800"/>
                    </a:ext>
                  </a:extLst>
                </a:gridCol>
                <a:gridCol w="1910080">
                  <a:extLst>
                    <a:ext uri="{9D8B030D-6E8A-4147-A177-3AD203B41FA5}">
                      <a16:colId xmlns:a16="http://schemas.microsoft.com/office/drawing/2014/main" val="2609301018"/>
                    </a:ext>
                  </a:extLst>
                </a:gridCol>
                <a:gridCol w="1910080">
                  <a:extLst>
                    <a:ext uri="{9D8B030D-6E8A-4147-A177-3AD203B41FA5}">
                      <a16:colId xmlns:a16="http://schemas.microsoft.com/office/drawing/2014/main" val="38423853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b="1">
                          <a:effectLst/>
                          <a:latin typeface="quote-cjk-patch"/>
                        </a:rPr>
                        <a:t>Partitions</a:t>
                      </a:r>
                    </a:p>
                  </a:txBody>
                  <a:tcPr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b="1">
                          <a:effectLst/>
                          <a:latin typeface="quote-cjk-patch"/>
                        </a:rPr>
                        <a:t>Time (seconds)</a:t>
                      </a: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b="1" dirty="0">
                          <a:effectLst/>
                          <a:latin typeface="quote-cjk-patch"/>
                        </a:rPr>
                        <a:t>Efficiency</a:t>
                      </a: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71502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2</a:t>
                      </a:r>
                    </a:p>
                  </a:txBody>
                  <a:tcPr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0.365</a:t>
                      </a: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quote-cjk-patch"/>
                        </a:rPr>
                        <a:t>Baseline</a:t>
                      </a:r>
                    </a:p>
                  </a:txBody>
                  <a:tcPr marL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01935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4</a:t>
                      </a:r>
                    </a:p>
                  </a:txBody>
                  <a:tcPr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quote-cjk-patch"/>
                        </a:rPr>
                        <a:t>0.237</a:t>
                      </a: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quote-cjk-patch"/>
                        </a:rPr>
                        <a:t>Optimal</a:t>
                      </a:r>
                    </a:p>
                  </a:txBody>
                  <a:tcPr marL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89569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8</a:t>
                      </a:r>
                    </a:p>
                  </a:txBody>
                  <a:tcPr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quote-cjk-patch"/>
                        </a:rPr>
                        <a:t>0.189</a:t>
                      </a: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quote-cjk-patch"/>
                        </a:rPr>
                        <a:t>Improved</a:t>
                      </a:r>
                    </a:p>
                  </a:txBody>
                  <a:tcPr marL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1896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16</a:t>
                      </a:r>
                    </a:p>
                  </a:txBody>
                  <a:tcPr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0.214</a:t>
                      </a: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quote-cjk-patch"/>
                        </a:rPr>
                        <a:t>Overhead increase</a:t>
                      </a:r>
                    </a:p>
                  </a:txBody>
                  <a:tcPr marL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2423988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DC5CBAC0-9C23-A183-7515-B01973865B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6614" y="3276960"/>
            <a:ext cx="5865385" cy="35810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374783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DDF55-9BB3-99FD-ABC5-32F6444F5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8557D-B7AA-330F-30BE-5322119D4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Summery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F0F232-FE38-BD54-C0CB-79B0A5D97EE9}"/>
              </a:ext>
            </a:extLst>
          </p:cNvPr>
          <p:cNvSpPr txBox="1"/>
          <p:nvPr/>
        </p:nvSpPr>
        <p:spPr>
          <a:xfrm>
            <a:off x="936522" y="1930400"/>
            <a:ext cx="821730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This project successfully implemented a distributed big data pipeline for Arabic AI-text detection using Apache Spark. The Logistic Regression model, trained on a hybrid feature set combining TF-IDF and stylometric features (average syllables per word and noun count), achieved excellent performance (98.25% accuracy, 0.9826 F1-score, 0.9961 AUC). The streaming implementation demonstrated real-time inference capability, and scalability analysis identified optimal parallelism at 8 partitions.</a:t>
            </a:r>
          </a:p>
        </p:txBody>
      </p:sp>
    </p:spTree>
    <p:extLst>
      <p:ext uri="{BB962C8B-B14F-4D97-AF65-F5344CB8AC3E}">
        <p14:creationId xmlns:p14="http://schemas.microsoft.com/office/powerpoint/2010/main" val="2171777719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48</TotalTime>
  <Words>591</Words>
  <Application>Microsoft Office PowerPoint</Application>
  <PresentationFormat>Widescreen</PresentationFormat>
  <Paragraphs>151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Aptos</vt:lpstr>
      <vt:lpstr>Arial</vt:lpstr>
      <vt:lpstr>Menlo</vt:lpstr>
      <vt:lpstr>quote-cjk-patch</vt:lpstr>
      <vt:lpstr>Trebuchet MS</vt:lpstr>
      <vt:lpstr>Wingdings 3</vt:lpstr>
      <vt:lpstr>Facet</vt:lpstr>
      <vt:lpstr>Detection of AI-Generated Arabic Text using Pyspark</vt:lpstr>
      <vt:lpstr>Introduction</vt:lpstr>
      <vt:lpstr>Dataset Description</vt:lpstr>
      <vt:lpstr>Dataset Description</vt:lpstr>
      <vt:lpstr>Feature Engineering</vt:lpstr>
      <vt:lpstr>Preprocessing Functions </vt:lpstr>
      <vt:lpstr>Exploratory Data Analysis </vt:lpstr>
      <vt:lpstr>Exploratory Data Analysis </vt:lpstr>
      <vt:lpstr>Exploratory Data Analysis </vt:lpstr>
      <vt:lpstr>Model Training Configuration</vt:lpstr>
      <vt:lpstr>Results  </vt:lpstr>
      <vt:lpstr>Evaluation</vt:lpstr>
      <vt:lpstr>Confusion Matrix  </vt:lpstr>
      <vt:lpstr>Feature Importance</vt:lpstr>
      <vt:lpstr>Streaming Implementation</vt:lpstr>
      <vt:lpstr>Streaming Implementation</vt:lpstr>
      <vt:lpstr>Scalability Benchmark</vt:lpstr>
      <vt:lpstr>Summery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Maryam Gaber</dc:creator>
  <cp:lastModifiedBy>Ahmad Alofi</cp:lastModifiedBy>
  <cp:revision>4</cp:revision>
  <dcterms:created xsi:type="dcterms:W3CDTF">2026-05-17T17:14:54Z</dcterms:created>
  <dcterms:modified xsi:type="dcterms:W3CDTF">2026-05-20T15:05:55Z</dcterms:modified>
</cp:coreProperties>
</file>