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24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96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892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11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921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014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124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9939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86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45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1641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335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429541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765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3061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517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7600FA-C64D-46FD-906D-40925EF62989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5FD3024D-68F0-408D-BF50-FBD974FF48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48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C4647-4323-81D3-73DF-6B5FEAA365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Detection of AI-Generated Arabic Text</a:t>
            </a:r>
            <a:r>
              <a:rPr lang="ar-EG" dirty="0"/>
              <a:t> </a:t>
            </a:r>
            <a:r>
              <a:rPr lang="en-US" dirty="0"/>
              <a:t>using </a:t>
            </a:r>
            <a:r>
              <a:rPr lang="en-US" dirty="0" err="1"/>
              <a:t>Pyspark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D169DC-DAA6-D3F0-F60D-E30E897C817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By:</a:t>
            </a:r>
          </a:p>
        </p:txBody>
      </p:sp>
    </p:spTree>
    <p:extLst>
      <p:ext uri="{BB962C8B-B14F-4D97-AF65-F5344CB8AC3E}">
        <p14:creationId xmlns:p14="http://schemas.microsoft.com/office/powerpoint/2010/main" val="4157279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56B61-9147-0089-50AF-BF43DE283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A6BB8-F594-0F36-01C0-66422A081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project  objectives:</a:t>
            </a:r>
          </a:p>
          <a:p>
            <a:pPr lvl="0"/>
            <a:r>
              <a:rPr lang="en-US" dirty="0"/>
              <a:t>Design and implement a distributed data processing pipeline for Arabic text analysis using Apache Spark</a:t>
            </a:r>
          </a:p>
          <a:p>
            <a:pPr lvl="0"/>
            <a:r>
              <a:rPr lang="en-US" dirty="0"/>
              <a:t>To develop comprehensive Arabic text preprocessing functions, including diacritic removal, character normalization, stopword filtering, and stemming, implemented as distributed Spark UDFs for parallel execution</a:t>
            </a:r>
          </a:p>
          <a:p>
            <a:pPr lvl="0"/>
            <a:r>
              <a:rPr lang="en-US" dirty="0"/>
              <a:t>To engineer hybrid features that combine TF-IDF vectors, </a:t>
            </a:r>
          </a:p>
          <a:p>
            <a:pPr lvl="0"/>
            <a:r>
              <a:rPr lang="en-US" dirty="0"/>
              <a:t>To train and evaluate multiple classification models (Logistic Regression, Random Forest, Linear SVM, and Naive Bayes) on a balanced dataset of human and AI-generated Arabic abstracts</a:t>
            </a:r>
          </a:p>
          <a:p>
            <a:pPr lvl="0"/>
            <a:r>
              <a:rPr lang="en-US" dirty="0"/>
              <a:t>To implement a streaming module using Spark Structured Streaming that demonstrates real-time inference capability on simulated file-based input streams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37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C7984-BAE9-9988-E1E8-20E5ECA0D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733C9-227A-2539-E06D-8F3FDDD8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6A743-8F29-22E5-5C3B-071175BECC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Source:</a:t>
            </a:r>
            <a:r>
              <a:rPr lang="en-US" dirty="0"/>
              <a:t> The dataset is KFUPM-JRCAI/</a:t>
            </a:r>
            <a:r>
              <a:rPr lang="en-US" dirty="0" err="1"/>
              <a:t>arabic</a:t>
            </a:r>
            <a:r>
              <a:rPr lang="en-US" dirty="0"/>
              <a:t>-generated-abstracts loaded from Hugging Face.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Structure:</a:t>
            </a:r>
            <a:r>
              <a:rPr lang="en-US" dirty="0"/>
              <a:t> The dataset contains three splits:</a:t>
            </a:r>
          </a:p>
          <a:p>
            <a:pPr lvl="0"/>
            <a:r>
              <a:rPr lang="en-US" dirty="0" err="1"/>
              <a:t>by_polishing</a:t>
            </a:r>
            <a:r>
              <a:rPr lang="en-US" dirty="0"/>
              <a:t>: 2,851 rows</a:t>
            </a:r>
          </a:p>
          <a:p>
            <a:pPr lvl="0"/>
            <a:r>
              <a:rPr lang="en-US" dirty="0" err="1"/>
              <a:t>from_title</a:t>
            </a:r>
            <a:r>
              <a:rPr lang="en-US" dirty="0"/>
              <a:t>: 2,963 rows</a:t>
            </a:r>
          </a:p>
          <a:p>
            <a:pPr lvl="0"/>
            <a:r>
              <a:rPr lang="en-US" dirty="0" err="1"/>
              <a:t>from_title_and_content</a:t>
            </a:r>
            <a:r>
              <a:rPr lang="en-US" dirty="0"/>
              <a:t>: 2,574 rows</a:t>
            </a:r>
          </a:p>
        </p:txBody>
      </p:sp>
    </p:spTree>
    <p:extLst>
      <p:ext uri="{BB962C8B-B14F-4D97-AF65-F5344CB8AC3E}">
        <p14:creationId xmlns:p14="http://schemas.microsoft.com/office/powerpoint/2010/main" val="2174898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34E73-45A3-3783-D1FA-3899A3622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D6612-810E-93B7-5E58-182C3E128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Description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8F108-BCDF-BA26-A948-0768E0CFBE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C8FB0B3-C2E3-5EB3-2F8A-A61D9F2FDF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485069"/>
              </p:ext>
            </p:extLst>
          </p:nvPr>
        </p:nvGraphicFramePr>
        <p:xfrm>
          <a:off x="838200" y="2770472"/>
          <a:ext cx="8659761" cy="24624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302176524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1881753670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847517674"/>
                    </a:ext>
                  </a:extLst>
                </a:gridCol>
                <a:gridCol w="1115961">
                  <a:extLst>
                    <a:ext uri="{9D8B030D-6E8A-4147-A177-3AD203B41FA5}">
                      <a16:colId xmlns:a16="http://schemas.microsoft.com/office/drawing/2014/main" val="206748155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Label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Generated By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Count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Percentage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extLst>
                  <a:ext uri="{0D108BD9-81ED-4DB2-BD59-A6C34878D82A}">
                    <a16:rowId xmlns:a16="http://schemas.microsoft.com/office/drawing/2014/main" val="3312626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0 (AI)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allam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8,388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20.0%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938339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0 (AI)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jais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8,388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20.0%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3584452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0 (AI)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llama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8,388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20.0%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10825899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0 (AI)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openai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8,388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20.0%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0961061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1 (Human)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human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>
                          <a:effectLst/>
                        </a:rPr>
                        <a:t>8,388</a:t>
                      </a:r>
                      <a:endParaRPr lang="en-US" sz="1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152400" marT="95250" marB="95250" anchor="ctr"/>
                </a:tc>
                <a:tc>
                  <a:txBody>
                    <a:bodyPr/>
                    <a:lstStyle/>
                    <a:p>
                      <a:pPr marL="0" marR="0" algn="l" rtl="0">
                        <a:lnSpc>
                          <a:spcPts val="1875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50" dirty="0">
                          <a:effectLst/>
                        </a:rPr>
                        <a:t>20.0%</a:t>
                      </a:r>
                      <a:endParaRPr lang="en-US" sz="1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52400" marR="0" marT="95250" marB="95250" anchor="ctr"/>
                </a:tc>
                <a:extLst>
                  <a:ext uri="{0D108BD9-81ED-4DB2-BD59-A6C34878D82A}">
                    <a16:rowId xmlns:a16="http://schemas.microsoft.com/office/drawing/2014/main" val="2360191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9954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48B81B-6111-CF58-3D1B-4848EA18B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74B0A-1570-21F7-F948-3E948B84C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Feature Engineering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7F09C30-D731-C7C8-DF13-4F718C3C78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9837454"/>
              </p:ext>
            </p:extLst>
          </p:nvPr>
        </p:nvGraphicFramePr>
        <p:xfrm>
          <a:off x="81116" y="2640141"/>
          <a:ext cx="10515600" cy="1905000"/>
        </p:xfrm>
        <a:graphic>
          <a:graphicData uri="http://schemas.openxmlformats.org/drawingml/2006/table">
            <a:tbl>
              <a:tblPr/>
              <a:tblGrid>
                <a:gridCol w="1324897">
                  <a:extLst>
                    <a:ext uri="{9D8B030D-6E8A-4147-A177-3AD203B41FA5}">
                      <a16:colId xmlns:a16="http://schemas.microsoft.com/office/drawing/2014/main" val="4056731957"/>
                    </a:ext>
                  </a:extLst>
                </a:gridCol>
                <a:gridCol w="2595716">
                  <a:extLst>
                    <a:ext uri="{9D8B030D-6E8A-4147-A177-3AD203B41FA5}">
                      <a16:colId xmlns:a16="http://schemas.microsoft.com/office/drawing/2014/main" val="2756531267"/>
                    </a:ext>
                  </a:extLst>
                </a:gridCol>
                <a:gridCol w="3215148">
                  <a:extLst>
                    <a:ext uri="{9D8B030D-6E8A-4147-A177-3AD203B41FA5}">
                      <a16:colId xmlns:a16="http://schemas.microsoft.com/office/drawing/2014/main" val="1911306013"/>
                    </a:ext>
                  </a:extLst>
                </a:gridCol>
                <a:gridCol w="3379839">
                  <a:extLst>
                    <a:ext uri="{9D8B030D-6E8A-4147-A177-3AD203B41FA5}">
                      <a16:colId xmlns:a16="http://schemas.microsoft.com/office/drawing/2014/main" val="19283528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Feature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Code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Description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Computation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83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F023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avg_syllables_per_word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Mean syllable count per word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Cluster-based vowel detection (Arabic long/short vowels)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3553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F046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b="0" dirty="0" err="1">
                          <a:effectLst/>
                          <a:latin typeface="Menlo"/>
                        </a:rPr>
                        <a:t>num_nouns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Noun frequency per abstract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camel-tools POS tagging (fallback: heuristic with </a:t>
                      </a:r>
                      <a:r>
                        <a:rPr lang="ar-EG" b="0" dirty="0">
                          <a:effectLst/>
                          <a:latin typeface="quote-cjk-patch"/>
                        </a:rPr>
                        <a:t>ال </a:t>
                      </a:r>
                      <a:r>
                        <a:rPr lang="en-US" b="0" dirty="0">
                          <a:effectLst/>
                          <a:latin typeface="quote-cjk-patch"/>
                        </a:rPr>
                        <a:t>prefix + common suffixes)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7504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88442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3EC224-36D5-148D-5D4E-5AEB2744A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8DDDE-4861-36C0-B996-F3DC64649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Preprocessing Functions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1476B7-D8D6-17DD-FAAC-7B30BCD69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Step 1: Remove diacritical marks (</a:t>
            </a:r>
            <a:r>
              <a:rPr lang="en-US" dirty="0" err="1"/>
              <a:t>tashkeel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Step 2: Normalize character variants</a:t>
            </a:r>
          </a:p>
          <a:p>
            <a:pPr marL="0" indent="0">
              <a:buNone/>
            </a:pPr>
            <a:r>
              <a:rPr lang="en-US" dirty="0"/>
              <a:t>Step 3: Filter Arabic </a:t>
            </a:r>
            <a:r>
              <a:rPr lang="en-US" dirty="0" err="1"/>
              <a:t>stopwords</a:t>
            </a:r>
            <a:r>
              <a:rPr lang="en-US" dirty="0"/>
              <a:t>  by using NLTK</a:t>
            </a:r>
          </a:p>
        </p:txBody>
      </p:sp>
    </p:spTree>
    <p:extLst>
      <p:ext uri="{BB962C8B-B14F-4D97-AF65-F5344CB8AC3E}">
        <p14:creationId xmlns:p14="http://schemas.microsoft.com/office/powerpoint/2010/main" val="15529141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77EAC-5A53-23F4-B480-4AB89CA54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D46B3-7081-BED6-A171-491641BE6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3697C-A8C7-42EC-3599-70DE137AA7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Class Distribution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6551C3-F331-B14D-9A2E-E4BC9E96D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9257" y="1930400"/>
            <a:ext cx="3771707" cy="39691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53822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18F868-FC3C-17F8-16D6-D90948D0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3ADC30-B2F0-5381-3AC5-D0B55CEF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BDC749-7124-ED65-A47E-5D0CB8CFA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Token Density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B77D0C-E91B-018C-EFDA-12B33C419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1600" y="2834598"/>
            <a:ext cx="6250581" cy="341125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09459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DF2C8-38D1-0FA9-541F-767EF7BFF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D863-8BE4-2F80-94AC-B0F111A206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Exploratory Data Analysis 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BB1E56-DE90-C0B9-033F-1897D26A76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Top Unigrams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0921FD0-6FC8-358C-C9FE-C3B335A921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969" y="2294862"/>
            <a:ext cx="5274310" cy="3746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20250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D008A-F658-B3B8-A253-AB992D5711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DAC74-FC16-11AB-7CB3-BDF47F868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Model Training Configuration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9A39B-EBFB-B10A-919D-6BC37A4233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402D1E4-3532-3B26-4762-EBAC6475DA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605244"/>
              </p:ext>
            </p:extLst>
          </p:nvPr>
        </p:nvGraphicFramePr>
        <p:xfrm>
          <a:off x="3230880" y="3213894"/>
          <a:ext cx="5730240" cy="157480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1133467041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103340746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1369933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Split</a:t>
                      </a: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Percentage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Row Count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72551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Training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70%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29,345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36443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Validation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15%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6,430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537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Test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15%</a:t>
                      </a:r>
                    </a:p>
                  </a:txBody>
                  <a:tcPr marL="121920" marR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6,161</a:t>
                      </a:r>
                    </a:p>
                  </a:txBody>
                  <a:tcPr marL="121920" marT="76200" marB="762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3384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1225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754E2-32DD-381C-C941-1D833F6CA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 </a:t>
            </a:r>
            <a:br>
              <a:rPr lang="en-US" b="1" dirty="0"/>
            </a:b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F839272-F5B3-11E0-C8DC-AEC35E525D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75115978"/>
              </p:ext>
            </p:extLst>
          </p:nvPr>
        </p:nvGraphicFramePr>
        <p:xfrm>
          <a:off x="2110409" y="2787063"/>
          <a:ext cx="7451035" cy="2451100"/>
        </p:xfrm>
        <a:graphic>
          <a:graphicData uri="http://schemas.openxmlformats.org/drawingml/2006/table">
            <a:tbl>
              <a:tblPr/>
              <a:tblGrid>
                <a:gridCol w="1490207">
                  <a:extLst>
                    <a:ext uri="{9D8B030D-6E8A-4147-A177-3AD203B41FA5}">
                      <a16:colId xmlns:a16="http://schemas.microsoft.com/office/drawing/2014/main" val="177558323"/>
                    </a:ext>
                  </a:extLst>
                </a:gridCol>
                <a:gridCol w="1490207">
                  <a:extLst>
                    <a:ext uri="{9D8B030D-6E8A-4147-A177-3AD203B41FA5}">
                      <a16:colId xmlns:a16="http://schemas.microsoft.com/office/drawing/2014/main" val="614963395"/>
                    </a:ext>
                  </a:extLst>
                </a:gridCol>
                <a:gridCol w="1490207">
                  <a:extLst>
                    <a:ext uri="{9D8B030D-6E8A-4147-A177-3AD203B41FA5}">
                      <a16:colId xmlns:a16="http://schemas.microsoft.com/office/drawing/2014/main" val="4043895445"/>
                    </a:ext>
                  </a:extLst>
                </a:gridCol>
                <a:gridCol w="1490207">
                  <a:extLst>
                    <a:ext uri="{9D8B030D-6E8A-4147-A177-3AD203B41FA5}">
                      <a16:colId xmlns:a16="http://schemas.microsoft.com/office/drawing/2014/main" val="994960253"/>
                    </a:ext>
                  </a:extLst>
                </a:gridCol>
                <a:gridCol w="1490207">
                  <a:extLst>
                    <a:ext uri="{9D8B030D-6E8A-4147-A177-3AD203B41FA5}">
                      <a16:colId xmlns:a16="http://schemas.microsoft.com/office/drawing/2014/main" val="524727090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Model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Accuracy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F1-Score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AUC-ROC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86774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Logistic Regression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0.9802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0.9804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0.9955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3075483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1">
                          <a:effectLst/>
                          <a:latin typeface="quote-cjk-patch"/>
                        </a:rPr>
                        <a:t>Linear SVM</a:t>
                      </a: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0.9750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0.9751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0.9946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49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Naive Bayes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0.9087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0.9137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0.7275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6248996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 dirty="0">
                          <a:effectLst/>
                          <a:latin typeface="quote-cjk-patch"/>
                        </a:rPr>
                        <a:t>Random Forest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0.8123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0.7396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800" b="0">
                          <a:effectLst/>
                          <a:latin typeface="quote-cjk-patch"/>
                        </a:rPr>
                        <a:t>0.9872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endParaRPr lang="en-US" sz="1800" b="0" dirty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826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53216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C251F-2983-99CE-7347-ED1702FA6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47BFE-3AD9-FA59-5E8E-8DFDDCC72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Evaluation</a:t>
            </a:r>
            <a:endParaRPr lang="en-US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C3C1757-084B-4BD5-CC27-AF3462F26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52393310"/>
              </p:ext>
            </p:extLst>
          </p:nvPr>
        </p:nvGraphicFramePr>
        <p:xfrm>
          <a:off x="3230880" y="3213894"/>
          <a:ext cx="5730240" cy="15748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806921669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45674331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Score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647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Accuracy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98.25%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3092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F1-Score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0.9826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342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AUC-ROC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0.9961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9689371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58F2431-F3FF-8E31-AC30-DC5A2B793400}"/>
              </a:ext>
            </a:extLst>
          </p:cNvPr>
          <p:cNvSpPr txBox="1"/>
          <p:nvPr/>
        </p:nvSpPr>
        <p:spPr>
          <a:xfrm>
            <a:off x="1200149" y="1904705"/>
            <a:ext cx="6097656" cy="10951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50"/>
              </a:lnSpc>
              <a:spcBef>
                <a:spcPts val="240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0F1115"/>
                </a:solidFill>
                <a:effectLst/>
                <a:latin typeface="quote-cjk-patch"/>
              </a:rPr>
              <a:t>Best Model (Logistic Regression) Performance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6428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F22E5-CD0C-E991-3CC0-E003D483A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2CDC6-8B64-3BF5-F77E-1977BF445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Confusion Matrix</a:t>
            </a:r>
            <a:br>
              <a:rPr lang="en-US" b="1" dirty="0"/>
            </a:br>
            <a:br>
              <a:rPr lang="en-US" dirty="0"/>
            </a:b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11B5E6-FE97-C592-8F4A-192213A3BD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20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model shows excellent performance with only 35 false positives (AI misclassified as human) and 73 false negatives (human misclassified as AI). The low error rates indicate strong discriminative capability.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745C5F-456E-0F88-DFD7-A0C0DED76F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9897" y="2774294"/>
            <a:ext cx="4088765" cy="3264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3951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AFA3-FE22-5602-B0F1-31DE1704D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6CF50-9B59-370A-9E3B-012D00CA5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Feature Importance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7C986-FED8-7573-DB79-8AF90DA5C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207"/>
            <a:ext cx="843580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Token count (</a:t>
            </a:r>
            <a:r>
              <a:rPr lang="en-US" dirty="0" err="1"/>
              <a:t>n_tokens</a:t>
            </a:r>
            <a:r>
              <a:rPr lang="en-US" dirty="0"/>
              <a:t>) showed the highest importance among stylometric features, followed by noun count. Average syllables per word contributed minimally, suggesting that syllable-level features may be less discriminative than lexical density measures for this dataset.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A0659C-39A7-EBDE-DBE1-580EC2FB4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53153" y="2963943"/>
            <a:ext cx="5274310" cy="22663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0277429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DDE93-9F1B-44DC-8DF0-95CD56FD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65CE8-3751-E7AE-80C1-D3247AEE8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Streaming Implementation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7EA27E-1818-A942-A6A6-BA8BC8B50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67207"/>
            <a:ext cx="10515600" cy="4351338"/>
          </a:xfrm>
        </p:spPr>
        <p:txBody>
          <a:bodyPr>
            <a:normAutofit/>
          </a:bodyPr>
          <a:lstStyle/>
          <a:p>
            <a:pPr latinLnBrk="1"/>
            <a:r>
              <a:rPr lang="en-US" dirty="0"/>
              <a:t>JSON Files</a:t>
            </a:r>
          </a:p>
          <a:p>
            <a:pPr latinLnBrk="1"/>
            <a:r>
              <a:rPr lang="en-US" dirty="0"/>
              <a:t>Spark Structured Streaming</a:t>
            </a:r>
          </a:p>
          <a:p>
            <a:pPr latinLnBrk="1"/>
            <a:r>
              <a:rPr lang="en-US" dirty="0"/>
              <a:t>Preprocessing UDFs       ↓</a:t>
            </a:r>
          </a:p>
          <a:p>
            <a:pPr latinLnBrk="1"/>
            <a:r>
              <a:rPr lang="en-US" dirty="0"/>
              <a:t>TF-IDF Pipeline Transform</a:t>
            </a:r>
          </a:p>
          <a:p>
            <a:pPr latinLnBrk="1"/>
            <a:r>
              <a:rPr lang="en-US" dirty="0"/>
              <a:t>Model Inference (Logistic Regression)</a:t>
            </a:r>
          </a:p>
          <a:p>
            <a:pPr latinLnBrk="1"/>
            <a:r>
              <a:rPr lang="en-US" dirty="0"/>
              <a:t>Parquet Output</a:t>
            </a:r>
          </a:p>
        </p:txBody>
      </p:sp>
    </p:spTree>
    <p:extLst>
      <p:ext uri="{BB962C8B-B14F-4D97-AF65-F5344CB8AC3E}">
        <p14:creationId xmlns:p14="http://schemas.microsoft.com/office/powerpoint/2010/main" val="35190058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BDC4FE-397A-B07C-01B6-DE9C63829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FD238-EDE0-3D62-21E3-64BF5C4A7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Streaming Implementation</a:t>
            </a:r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8650060-2BC6-062E-8D9E-3F12CE1C07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01226"/>
              </p:ext>
            </p:extLst>
          </p:nvPr>
        </p:nvGraphicFramePr>
        <p:xfrm>
          <a:off x="1918915" y="2402750"/>
          <a:ext cx="5730240" cy="2362200"/>
        </p:xfrm>
        <a:graphic>
          <a:graphicData uri="http://schemas.openxmlformats.org/drawingml/2006/table">
            <a:tbl>
              <a:tblPr/>
              <a:tblGrid>
                <a:gridCol w="2865120">
                  <a:extLst>
                    <a:ext uri="{9D8B030D-6E8A-4147-A177-3AD203B41FA5}">
                      <a16:colId xmlns:a16="http://schemas.microsoft.com/office/drawing/2014/main" val="2572720807"/>
                    </a:ext>
                  </a:extLst>
                </a:gridCol>
                <a:gridCol w="2865120">
                  <a:extLst>
                    <a:ext uri="{9D8B030D-6E8A-4147-A177-3AD203B41FA5}">
                      <a16:colId xmlns:a16="http://schemas.microsoft.com/office/drawing/2014/main" val="1635282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Metric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Value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3357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Total records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50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69323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Batches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5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792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Processing mode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Append, 3-second trigger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13191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Output format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JSON (partitioned)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08084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Accuracy (simulated)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95.0%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71164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2598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2F6DF2-325B-3D8F-AEDA-D29ADE494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FD593-5253-40CB-1A48-6B6ECFDDC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Scalability Benchmark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8C72340-FE45-AA9D-1491-1ABE51E50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947938"/>
              </p:ext>
            </p:extLst>
          </p:nvPr>
        </p:nvGraphicFramePr>
        <p:xfrm>
          <a:off x="596375" y="1712140"/>
          <a:ext cx="5730240" cy="2209800"/>
        </p:xfrm>
        <a:graphic>
          <a:graphicData uri="http://schemas.openxmlformats.org/drawingml/2006/table">
            <a:tbl>
              <a:tblPr/>
              <a:tblGrid>
                <a:gridCol w="1910080">
                  <a:extLst>
                    <a:ext uri="{9D8B030D-6E8A-4147-A177-3AD203B41FA5}">
                      <a16:colId xmlns:a16="http://schemas.microsoft.com/office/drawing/2014/main" val="1869379800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2609301018"/>
                    </a:ext>
                  </a:extLst>
                </a:gridCol>
                <a:gridCol w="1910080">
                  <a:extLst>
                    <a:ext uri="{9D8B030D-6E8A-4147-A177-3AD203B41FA5}">
                      <a16:colId xmlns:a16="http://schemas.microsoft.com/office/drawing/2014/main" val="38423853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Partitions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Time (seconds)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Efficiency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7150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0.365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Baseline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935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4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 dirty="0">
                          <a:effectLst/>
                          <a:latin typeface="quote-cjk-patch"/>
                        </a:rPr>
                        <a:t>0.237</a:t>
                      </a:r>
                      <a:endParaRPr lang="en-US" b="0" dirty="0">
                        <a:effectLst/>
                        <a:latin typeface="quote-cjk-patch"/>
                      </a:endParaRP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1">
                          <a:effectLst/>
                          <a:latin typeface="quote-cjk-patch"/>
                        </a:rPr>
                        <a:t>Optimal</a:t>
                      </a:r>
                      <a:endParaRPr lang="en-US" b="0">
                        <a:effectLst/>
                        <a:latin typeface="quote-cjk-patch"/>
                      </a:endParaRP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9569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8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0.189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Improved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1896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16</a:t>
                      </a:r>
                    </a:p>
                  </a:txBody>
                  <a:tcPr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>
                          <a:effectLst/>
                          <a:latin typeface="quote-cjk-patch"/>
                        </a:rPr>
                        <a:t>0.214</a:t>
                      </a:r>
                    </a:p>
                  </a:txBody>
                  <a:tcPr marL="121920" marR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b="0" dirty="0">
                          <a:effectLst/>
                          <a:latin typeface="quote-cjk-patch"/>
                        </a:rPr>
                        <a:t>Overhead increase</a:t>
                      </a:r>
                    </a:p>
                  </a:txBody>
                  <a:tcPr marL="121920" marT="76200" marB="762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2423988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C5CBAC0-9C23-A183-7515-B01973865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6847" y="3180081"/>
            <a:ext cx="5274310" cy="34950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74783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DDF55-9BB3-99FD-ABC5-32F6444F5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8557D-B7AA-330F-30BE-5322119D4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Summery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F0F232-FE38-BD54-C0CB-79B0A5D97EE9}"/>
              </a:ext>
            </a:extLst>
          </p:cNvPr>
          <p:cNvSpPr txBox="1"/>
          <p:nvPr/>
        </p:nvSpPr>
        <p:spPr>
          <a:xfrm>
            <a:off x="936522" y="1930400"/>
            <a:ext cx="82173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project successfully implemented a distributed big data pipeline for Arabic AI-text detection using Apache Spark. The Logistic Regression model, trained on a hybrid feature set combining TF-IDF and stylometric features (average syllables per word and noun count), achieved excellent performance (98.25% accuracy, 0.9826 F1-score, 0.9961 AUC). The streaming implementation demonstrated real-time inference capability, and scalability analysis identified optimal parallelism at 8 partitions.</a:t>
            </a:r>
          </a:p>
        </p:txBody>
      </p:sp>
    </p:spTree>
    <p:extLst>
      <p:ext uri="{BB962C8B-B14F-4D97-AF65-F5344CB8AC3E}">
        <p14:creationId xmlns:p14="http://schemas.microsoft.com/office/powerpoint/2010/main" val="2171777719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41</TotalTime>
  <Words>591</Words>
  <Application>Microsoft Office PowerPoint</Application>
  <PresentationFormat>Widescreen</PresentationFormat>
  <Paragraphs>151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Arial</vt:lpstr>
      <vt:lpstr>Menlo</vt:lpstr>
      <vt:lpstr>quote-cjk-patch</vt:lpstr>
      <vt:lpstr>Trebuchet MS</vt:lpstr>
      <vt:lpstr>Wingdings 3</vt:lpstr>
      <vt:lpstr>Facet</vt:lpstr>
      <vt:lpstr>Detection of AI-Generated Arabic Text using Pyspark</vt:lpstr>
      <vt:lpstr>Introduction</vt:lpstr>
      <vt:lpstr>Dataset Description</vt:lpstr>
      <vt:lpstr>Dataset Description</vt:lpstr>
      <vt:lpstr>Feature Engineering</vt:lpstr>
      <vt:lpstr>Preprocessing Functions </vt:lpstr>
      <vt:lpstr>Exploratory Data Analysis </vt:lpstr>
      <vt:lpstr>Exploratory Data Analysis </vt:lpstr>
      <vt:lpstr>Exploratory Data Analysis </vt:lpstr>
      <vt:lpstr>Model Training Configuration</vt:lpstr>
      <vt:lpstr>Results  </vt:lpstr>
      <vt:lpstr>Evaluation</vt:lpstr>
      <vt:lpstr>Confusion Matrix  </vt:lpstr>
      <vt:lpstr>Feature Importance</vt:lpstr>
      <vt:lpstr>Streaming Implementation</vt:lpstr>
      <vt:lpstr>Streaming Implementation</vt:lpstr>
      <vt:lpstr>Scalability Benchmark</vt:lpstr>
      <vt:lpstr>Summery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Maryam Gaber</dc:creator>
  <cp:lastModifiedBy>Maryam Gaber</cp:lastModifiedBy>
  <cp:revision>3</cp:revision>
  <dcterms:created xsi:type="dcterms:W3CDTF">2026-05-17T17:14:54Z</dcterms:created>
  <dcterms:modified xsi:type="dcterms:W3CDTF">2026-05-18T11:43:05Z</dcterms:modified>
</cp:coreProperties>
</file>